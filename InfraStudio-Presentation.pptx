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2700000">
            <a:off x="10241280" y="-548640"/>
            <a:ext cx="384048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2700000">
            <a:off x="10652760" y="-548640"/>
            <a:ext cx="3017520" cy="4754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2700000">
            <a:off x="11018520" y="-548640"/>
            <a:ext cx="228600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0" y="65653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2026 | AIT Global - Confidential &amp; Proprietary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2700000">
            <a:off x="-914400" y="3474720"/>
            <a:ext cx="2926080" cy="502920"/>
          </a:xfrm>
          <a:prstGeom prst="rect">
            <a:avLst/>
          </a:prstGeom>
          <a:solidFill>
            <a:srgbClr val="1558A8"/>
          </a:solidFill>
          <a:ln w="12700">
            <a:solidFill>
              <a:srgbClr val="1558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2700000">
            <a:off x="-914400" y="4114800"/>
            <a:ext cx="2286000" cy="384048"/>
          </a:xfrm>
          <a:prstGeom prst="rect">
            <a:avLst/>
          </a:prstGeom>
          <a:solidFill>
            <a:srgbClr val="2575C4"/>
          </a:solidFill>
          <a:ln w="12700">
            <a:solidFill>
              <a:srgbClr val="2575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2700000">
            <a:off x="-914400" y="4663440"/>
            <a:ext cx="1645920" cy="2926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658368" y="1417320"/>
            <a:ext cx="2651760" cy="2651760"/>
          </a:xfrm>
          <a:prstGeom prst="roundRect">
            <a:avLst>
              <a:gd name="adj" fmla="val 7586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987552" y="1755648"/>
            <a:ext cx="1993392" cy="1993392"/>
          </a:xfrm>
          <a:prstGeom prst="roundRect">
            <a:avLst>
              <a:gd name="adj" fmla="val 8257"/>
            </a:avLst>
          </a:prstGeom>
          <a:solidFill>
            <a:srgbClr val="FFFFFF">
              <a:alpha val="95000"/>
            </a:srgbClr>
          </a:solidFill>
          <a:ln w="10160">
            <a:solidFill>
              <a:srgbClr val="6EAE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1938528" y="1207008"/>
            <a:ext cx="201168" cy="502920"/>
          </a:xfrm>
          <a:prstGeom prst="rect">
            <a:avLst/>
          </a:prstGeom>
          <a:solidFill>
            <a:srgbClr val="2575C4"/>
          </a:solidFill>
          <a:ln w="12700">
            <a:solidFill>
              <a:srgbClr val="2575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256032" y="2715768"/>
            <a:ext cx="201168" cy="502920"/>
          </a:xfrm>
          <a:prstGeom prst="rect">
            <a:avLst/>
          </a:prstGeom>
          <a:solidFill>
            <a:srgbClr val="2575C4"/>
          </a:solidFill>
          <a:ln w="12700">
            <a:solidFill>
              <a:srgbClr val="2575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1938528" y="4224528"/>
            <a:ext cx="201168" cy="502920"/>
          </a:xfrm>
          <a:prstGeom prst="rect">
            <a:avLst/>
          </a:prstGeom>
          <a:solidFill>
            <a:srgbClr val="2575C4"/>
          </a:solidFill>
          <a:ln w="12700">
            <a:solidFill>
              <a:srgbClr val="2575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3621024" y="2715768"/>
            <a:ext cx="201168" cy="502920"/>
          </a:xfrm>
          <a:prstGeom prst="rect">
            <a:avLst/>
          </a:prstGeom>
          <a:solidFill>
            <a:srgbClr val="2575C4"/>
          </a:solidFill>
          <a:ln w="12700">
            <a:solidFill>
              <a:srgbClr val="2575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176272"/>
            <a:ext cx="23774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55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91440" y="44622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INFRASTUDIO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43400" y="1280160"/>
            <a:ext cx="74980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InfraStudio</a:t>
            </a:r>
            <a:endParaRPr lang="en-US" sz="6200" dirty="0"/>
          </a:p>
        </p:txBody>
      </p:sp>
      <p:sp>
        <p:nvSpPr>
          <p:cNvPr id="19" name="Text 17"/>
          <p:cNvSpPr/>
          <p:nvPr/>
        </p:nvSpPr>
        <p:spPr>
          <a:xfrm>
            <a:off x="4343400" y="257860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Command Centre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343400" y="31546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compare, and deploy cloud infrastructure from one unified platform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43400" y="3794760"/>
            <a:ext cx="5029200" cy="0"/>
          </a:xfrm>
          <a:prstGeom prst="line">
            <a:avLst/>
          </a:prstGeom>
          <a:noFill/>
          <a:ln w="762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391363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Darekar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AIT Global Inc    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Amol Funde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AIT Global Inc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43400" y="4297680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Vijay Kadam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AIT Global Inc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43400" y="4663440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1247120" y="7315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2575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47120" y="73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7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63072" y="5943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 GLOBAL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 rot="-2700000">
            <a:off x="10607040" y="5394960"/>
            <a:ext cx="3657600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2700000">
            <a:off x="11018520" y="5806440"/>
            <a:ext cx="2926080" cy="411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2700000">
            <a:off x="11384280" y="6172200"/>
            <a:ext cx="219456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2026 | AIT Global - Confidential &amp; Proprietary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28600" y="7315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228600" y="749808"/>
            <a:ext cx="117500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8046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modules across three phases — Overview, Features, and Operations.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1207008"/>
            <a:ext cx="3749040" cy="475488"/>
          </a:xfrm>
          <a:prstGeom prst="roundRect">
            <a:avLst>
              <a:gd name="adj" fmla="val 15385"/>
            </a:avLst>
          </a:prstGeom>
          <a:solidFill>
            <a:srgbClr val="0EA47A"/>
          </a:solidFill>
          <a:ln w="12700">
            <a:solidFill>
              <a:srgbClr val="0EA4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20700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8600" y="1810512"/>
            <a:ext cx="3749040" cy="1444752"/>
          </a:xfrm>
          <a:prstGeom prst="roundRect">
            <a:avLst>
              <a:gd name="adj" fmla="val 6329"/>
            </a:avLst>
          </a:prstGeom>
          <a:solidFill>
            <a:srgbClr val="ECFEFF"/>
          </a:solidFill>
          <a:ln w="10160">
            <a:solidFill>
              <a:srgbClr val="A5F3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" y="1993392"/>
            <a:ext cx="457200" cy="457200"/>
          </a:xfrm>
          <a:prstGeom prst="ellipse">
            <a:avLst/>
          </a:prstGeom>
          <a:solidFill>
            <a:srgbClr val="0EA47A"/>
          </a:solidFill>
          <a:ln w="12700">
            <a:solidFill>
              <a:srgbClr val="0EA4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1810512"/>
            <a:ext cx="28346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Introduction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" y="3383280"/>
            <a:ext cx="3749040" cy="1444752"/>
          </a:xfrm>
          <a:prstGeom prst="roundRect">
            <a:avLst>
              <a:gd name="adj" fmla="val 6329"/>
            </a:avLst>
          </a:prstGeom>
          <a:solidFill>
            <a:srgbClr val="ECFEFF"/>
          </a:solidFill>
          <a:ln w="10160">
            <a:solidFill>
              <a:srgbClr val="A5F3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" y="3566160"/>
            <a:ext cx="457200" cy="457200"/>
          </a:xfrm>
          <a:prstGeom prst="ellipse">
            <a:avLst/>
          </a:prstGeom>
          <a:solidFill>
            <a:srgbClr val="0EA47A"/>
          </a:solidFill>
          <a:ln w="12700">
            <a:solidFill>
              <a:srgbClr val="0EA4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383280"/>
            <a:ext cx="28346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" y="4956048"/>
            <a:ext cx="3749040" cy="1444752"/>
          </a:xfrm>
          <a:prstGeom prst="roundRect">
            <a:avLst>
              <a:gd name="adj" fmla="val 6329"/>
            </a:avLst>
          </a:prstGeom>
          <a:solidFill>
            <a:srgbClr val="ECFEFF"/>
          </a:solidFill>
          <a:ln w="10160">
            <a:solidFill>
              <a:srgbClr val="A5F3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" y="5138928"/>
            <a:ext cx="457200" cy="457200"/>
          </a:xfrm>
          <a:prstGeom prst="ellipse">
            <a:avLst/>
          </a:prstGeom>
          <a:solidFill>
            <a:srgbClr val="0EA47A"/>
          </a:solidFill>
          <a:ln w="12700">
            <a:solidFill>
              <a:srgbClr val="0EA4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5138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4956048"/>
            <a:ext cx="28346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Solution &amp; ROI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06240" y="1207008"/>
            <a:ext cx="3749040" cy="475488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120700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206240" y="1810512"/>
            <a:ext cx="3749040" cy="1444752"/>
          </a:xfrm>
          <a:prstGeom prst="roundRect">
            <a:avLst>
              <a:gd name="adj" fmla="val 6329"/>
            </a:avLst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07408" y="1993392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07408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0" y="1810512"/>
            <a:ext cx="28346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Builder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06240" y="3383280"/>
            <a:ext cx="3749040" cy="1444752"/>
          </a:xfrm>
          <a:prstGeom prst="roundRect">
            <a:avLst>
              <a:gd name="adj" fmla="val 6329"/>
            </a:avLst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07408" y="35661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07408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29200" y="3383280"/>
            <a:ext cx="28346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Intelligence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206240" y="4956048"/>
            <a:ext cx="3749040" cy="1444752"/>
          </a:xfrm>
          <a:prstGeom prst="roundRect">
            <a:avLst>
              <a:gd name="adj" fmla="val 6329"/>
            </a:avLst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07408" y="513892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07408" y="5138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029200" y="4956048"/>
            <a:ext cx="28346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Deploy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183880" y="1207008"/>
            <a:ext cx="3749040" cy="475488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83880" y="120700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183880" y="1810512"/>
            <a:ext cx="3749040" cy="1444752"/>
          </a:xfrm>
          <a:prstGeom prst="roundRect">
            <a:avLst>
              <a:gd name="adj" fmla="val 6329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85048" y="199339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85048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006840" y="1810512"/>
            <a:ext cx="28346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Optimizer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183880" y="3383280"/>
            <a:ext cx="3749040" cy="1444752"/>
          </a:xfrm>
          <a:prstGeom prst="roundRect">
            <a:avLst>
              <a:gd name="adj" fmla="val 6329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85048" y="356616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85048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9006840" y="3383280"/>
            <a:ext cx="28346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Analytics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183880" y="4956048"/>
            <a:ext cx="3749040" cy="1444752"/>
          </a:xfrm>
          <a:prstGeom prst="roundRect">
            <a:avLst>
              <a:gd name="adj" fmla="val 6329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85048" y="5138928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85048" y="5138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9006840" y="4956048"/>
            <a:ext cx="28346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Suite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1247120" y="7315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2575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47120" y="73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7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63072" y="5943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 GLOBAL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 rot="-2700000">
            <a:off x="10607040" y="5394960"/>
            <a:ext cx="3657600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2700000">
            <a:off x="11018520" y="5806440"/>
            <a:ext cx="2926080" cy="411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2700000">
            <a:off x="11384280" y="6172200"/>
            <a:ext cx="219456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2026 | AIT Global - Confidential &amp; Proprietary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28600" y="7315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Solution &amp; ROI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228600" y="749808"/>
            <a:ext cx="117500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868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1188720"/>
            <a:ext cx="5532120" cy="1463040"/>
          </a:xfrm>
          <a:prstGeom prst="roundRect">
            <a:avLst>
              <a:gd name="adj" fmla="val 6250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137160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87552" y="13716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Tooling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7552" y="1746504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 tools per workflow — terminal, Docker, Grafana, CI/CD. Each switch costs 20-25 min of focus.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788920"/>
            <a:ext cx="5532120" cy="1463040"/>
          </a:xfrm>
          <a:prstGeom prst="roundRect">
            <a:avLst>
              <a:gd name="adj" fmla="val 6250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297180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87552" y="29718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IaC Authoring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" y="3346704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Terraform from scratch takes hours and requires specialist knowledge most teams lack.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4389120"/>
            <a:ext cx="5532120" cy="1463040"/>
          </a:xfrm>
          <a:prstGeom prst="roundRect">
            <a:avLst>
              <a:gd name="adj" fmla="val 6250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457200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87552" y="45720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 Visibility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87552" y="4946904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place to compare AWS, Azure and GCP costs before provisioning resources at scale.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868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0760" y="1188720"/>
            <a:ext cx="5760720" cy="1508760"/>
          </a:xfrm>
          <a:prstGeom prst="roundRect">
            <a:avLst>
              <a:gd name="adj" fmla="val 7273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6208" y="1298448"/>
            <a:ext cx="5440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cloud tool.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36208" y="1783080"/>
            <a:ext cx="5440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InfraStudio unifies IaC design, cost analysis, live deploy, monitoring, and AI automation in a single browser-based workspace.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080760" y="2880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80760" y="3200400"/>
            <a:ext cx="1810512" cy="2331720"/>
          </a:xfrm>
          <a:prstGeom prst="roundRect">
            <a:avLst>
              <a:gd name="adj" fmla="val 5051"/>
            </a:avLst>
          </a:prstGeom>
          <a:solidFill>
            <a:srgbClr val="ECFEFF"/>
          </a:solidFill>
          <a:ln w="10160">
            <a:solidFill>
              <a:srgbClr val="A5F3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3401568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30-40%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080760" y="4224528"/>
            <a:ext cx="18105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eng. time freed from toil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19288" y="3200400"/>
            <a:ext cx="1810512" cy="2331720"/>
          </a:xfrm>
          <a:prstGeom prst="roundRect">
            <a:avLst>
              <a:gd name="adj" fmla="val 5051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19288" y="3401568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8019288" y="4224528"/>
            <a:ext cx="18105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to deployed IaC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957816" y="3200400"/>
            <a:ext cx="1810512" cy="2331720"/>
          </a:xfrm>
          <a:prstGeom prst="roundRect">
            <a:avLst>
              <a:gd name="adj" fmla="val 5051"/>
            </a:avLst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57816" y="3401568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75-80%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9957816" y="4224528"/>
            <a:ext cx="18105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 identified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1247120" y="7315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2575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47120" y="73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7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63072" y="5943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 GLOBAL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 rot="-2700000">
            <a:off x="10607040" y="5394960"/>
            <a:ext cx="3657600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2700000">
            <a:off x="11018520" y="5806440"/>
            <a:ext cx="2926080" cy="411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2700000">
            <a:off x="11384280" y="6172200"/>
            <a:ext cx="219456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2026 | AIT Global - Confidential &amp; Proprietary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28600" y="7315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228600" y="749808"/>
            <a:ext cx="117500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8046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integrated modules covering every stage of the infrastructure lifecycle.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1207008"/>
            <a:ext cx="2240280" cy="2377440"/>
          </a:xfrm>
          <a:prstGeom prst="roundRect">
            <a:avLst>
              <a:gd name="adj" fmla="val 4082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371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01752" y="1993392"/>
            <a:ext cx="2093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Builder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1752" y="2414016"/>
            <a:ext cx="209397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HCL generation for AWS, Azure &amp; GCP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606040" y="1207008"/>
            <a:ext cx="2240280" cy="2377440"/>
          </a:xfrm>
          <a:prstGeom prst="roundRect">
            <a:avLst>
              <a:gd name="adj" fmla="val 4082"/>
            </a:avLst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1371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679192" y="1993392"/>
            <a:ext cx="2093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Comparison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79192" y="2414016"/>
            <a:ext cx="209397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multi-cloud pricing &amp; savings recommendations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983480" y="1207008"/>
            <a:ext cx="2240280" cy="2377440"/>
          </a:xfrm>
          <a:prstGeom prst="roundRect">
            <a:avLst>
              <a:gd name="adj" fmla="val 4082"/>
            </a:avLst>
          </a:prstGeom>
          <a:solidFill>
            <a:srgbClr val="ECFEFF"/>
          </a:solidFill>
          <a:ln w="10160">
            <a:solidFill>
              <a:srgbClr val="A5F3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371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☸️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56632" y="1993392"/>
            <a:ext cx="2093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Costing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56632" y="2414016"/>
            <a:ext cx="209397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cost explorer with architecture diagrams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360920" y="1207008"/>
            <a:ext cx="2240280" cy="2377440"/>
          </a:xfrm>
          <a:prstGeom prst="roundRect">
            <a:avLst>
              <a:gd name="adj" fmla="val 4082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1371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34072" y="1993392"/>
            <a:ext cx="2093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Deploy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34072" y="2414016"/>
            <a:ext cx="209397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 to K8s, Render, Railway, Fly.io in steps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738360" y="1207008"/>
            <a:ext cx="2240280" cy="2377440"/>
          </a:xfrm>
          <a:prstGeom prst="roundRect">
            <a:avLst>
              <a:gd name="adj" fmla="val 4082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38360" y="1371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811512" y="1993392"/>
            <a:ext cx="2093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Optimizer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811512" y="2414016"/>
            <a:ext cx="209397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right-sizing with cost impact analysis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28600" y="3721608"/>
            <a:ext cx="2240280" cy="2377440"/>
          </a:xfrm>
          <a:prstGeom prst="roundRect">
            <a:avLst>
              <a:gd name="adj" fmla="val 4082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38862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01752" y="4507992"/>
            <a:ext cx="2093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01752" y="4928616"/>
            <a:ext cx="209397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health, drift detection &amp; incidents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606040" y="3721608"/>
            <a:ext cx="2240280" cy="2377440"/>
          </a:xfrm>
          <a:prstGeom prst="roundRect">
            <a:avLst>
              <a:gd name="adj" fmla="val 4082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06040" y="38862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679192" y="4507992"/>
            <a:ext cx="2093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679192" y="4928616"/>
            <a:ext cx="209397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trends, cost breakdowns, team insights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983480" y="3721608"/>
            <a:ext cx="2240280" cy="2377440"/>
          </a:xfrm>
          <a:prstGeom prst="roundRect">
            <a:avLst>
              <a:gd name="adj" fmla="val 4082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38862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5056632" y="4507992"/>
            <a:ext cx="2093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056632" y="4928616"/>
            <a:ext cx="209397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playbook builder for config management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360920" y="3721608"/>
            <a:ext cx="2240280" cy="2377440"/>
          </a:xfrm>
          <a:prstGeom prst="roundRect">
            <a:avLst>
              <a:gd name="adj" fmla="val 4082"/>
            </a:avLst>
          </a:prstGeom>
          <a:solidFill>
            <a:srgbClr val="ECFEFF"/>
          </a:solidFill>
          <a:ln w="10160">
            <a:solidFill>
              <a:srgbClr val="A5F3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60920" y="38862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7434072" y="4507992"/>
            <a:ext cx="2093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Crossplane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434072" y="4928616"/>
            <a:ext cx="209397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Kubernetes-native cloud resource management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9738360" y="3721608"/>
            <a:ext cx="2240280" cy="2377440"/>
          </a:xfrm>
          <a:prstGeom prst="roundRect">
            <a:avLst>
              <a:gd name="adj" fmla="val 4082"/>
            </a:avLst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738360" y="38862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9811512" y="4507992"/>
            <a:ext cx="2093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Suite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9811512" y="4928616"/>
            <a:ext cx="209397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Agents, secrets vault, servers &amp; schedules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1247120" y="7315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2575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47120" y="73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7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63072" y="5943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 GLOBAL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 rot="-2700000">
            <a:off x="10607040" y="5394960"/>
            <a:ext cx="3657600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2700000">
            <a:off x="11018520" y="5806440"/>
            <a:ext cx="2926080" cy="411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2700000">
            <a:off x="11384280" y="6172200"/>
            <a:ext cx="219456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2026 | AIT Global - Confidential &amp; Proprietary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28600" y="7315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Builder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228600" y="749808"/>
            <a:ext cx="117500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8046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drag-and-drop HCL infrastructure generation — no Terraform expertise required.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1188720"/>
            <a:ext cx="5577840" cy="987552"/>
          </a:xfrm>
          <a:prstGeom prst="roundRect">
            <a:avLst>
              <a:gd name="adj" fmla="val 9259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207008"/>
            <a:ext cx="6400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78992" y="12618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Canvas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78992" y="1609344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resource blocks with live connection mapping and dependency resolution.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2286000"/>
            <a:ext cx="5577840" cy="987552"/>
          </a:xfrm>
          <a:prstGeom prst="roundRect">
            <a:avLst>
              <a:gd name="adj" fmla="val 9259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304288"/>
            <a:ext cx="6400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78992" y="2359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78992" y="2706624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AWS, Azure &amp; GCP provider support with 50+ resource types across all services.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3383280"/>
            <a:ext cx="5577840" cy="987552"/>
          </a:xfrm>
          <a:prstGeom prst="roundRect">
            <a:avLst>
              <a:gd name="adj" fmla="val 9259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401568"/>
            <a:ext cx="6400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78992" y="34564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 Export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8992" y="3803904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production-ready, formatted Terraform files in one click, ready to apply.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4480560"/>
            <a:ext cx="5577840" cy="987552"/>
          </a:xfrm>
          <a:prstGeom prst="roundRect">
            <a:avLst>
              <a:gd name="adj" fmla="val 9259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4498848"/>
            <a:ext cx="6400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78992" y="45537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Preview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78992" y="4901184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plan preview showing resource changes before committing to infrastructure.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5577840"/>
            <a:ext cx="5577840" cy="987552"/>
          </a:xfrm>
          <a:prstGeom prst="roundRect">
            <a:avLst>
              <a:gd name="adj" fmla="val 9259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5596128"/>
            <a:ext cx="6400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78992" y="56509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Support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78992" y="5998464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modules with variable injection and environment-specific configuration.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26480" y="868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26480" y="1188720"/>
            <a:ext cx="2788920" cy="2514600"/>
          </a:xfrm>
          <a:prstGeom prst="roundRect">
            <a:avLst>
              <a:gd name="adj" fmla="val 3636"/>
            </a:avLst>
          </a:prstGeom>
          <a:solidFill>
            <a:srgbClr val="ECFEFF"/>
          </a:solidFill>
          <a:ln w="10160">
            <a:solidFill>
              <a:srgbClr val="A5F3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1645920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EA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35" name="Text 33"/>
          <p:cNvSpPr/>
          <p:nvPr/>
        </p:nvSpPr>
        <p:spPr>
          <a:xfrm>
            <a:off x="6126480" y="26974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052560" y="1188720"/>
            <a:ext cx="2788920" cy="2514600"/>
          </a:xfrm>
          <a:prstGeom prst="roundRect">
            <a:avLst>
              <a:gd name="adj" fmla="val 3636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52560" y="1645920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4200" dirty="0"/>
          </a:p>
        </p:txBody>
      </p:sp>
      <p:sp>
        <p:nvSpPr>
          <p:cNvPr id="38" name="Text 36"/>
          <p:cNvSpPr/>
          <p:nvPr/>
        </p:nvSpPr>
        <p:spPr>
          <a:xfrm>
            <a:off x="9052560" y="26974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Types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26480" y="3840480"/>
            <a:ext cx="2788920" cy="2514600"/>
          </a:xfrm>
          <a:prstGeom prst="roundRect">
            <a:avLst>
              <a:gd name="adj" fmla="val 3636"/>
            </a:avLst>
          </a:prstGeom>
          <a:solidFill>
            <a:srgbClr val="ECFEFF"/>
          </a:solidFill>
          <a:ln w="10160">
            <a:solidFill>
              <a:srgbClr val="A5F3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0" y="4297680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</a:t>
            </a:r>
            <a:endParaRPr lang="en-US" sz="4200" dirty="0"/>
          </a:p>
        </p:txBody>
      </p:sp>
      <p:sp>
        <p:nvSpPr>
          <p:cNvPr id="41" name="Text 39"/>
          <p:cNvSpPr/>
          <p:nvPr/>
        </p:nvSpPr>
        <p:spPr>
          <a:xfrm>
            <a:off x="6126480" y="534924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052560" y="3840480"/>
            <a:ext cx="2788920" cy="2514600"/>
          </a:xfrm>
          <a:prstGeom prst="roundRect">
            <a:avLst>
              <a:gd name="adj" fmla="val 3636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52560" y="4297680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4200" dirty="0"/>
          </a:p>
        </p:txBody>
      </p:sp>
      <p:sp>
        <p:nvSpPr>
          <p:cNvPr id="44" name="Text 42"/>
          <p:cNvSpPr/>
          <p:nvPr/>
        </p:nvSpPr>
        <p:spPr>
          <a:xfrm>
            <a:off x="9052560" y="534924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1247120" y="7315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2575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47120" y="73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7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63072" y="5943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 GLOBAL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 rot="-2700000">
            <a:off x="10607040" y="5394960"/>
            <a:ext cx="3657600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2700000">
            <a:off x="11018520" y="5806440"/>
            <a:ext cx="2926080" cy="411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2700000">
            <a:off x="11384280" y="6172200"/>
            <a:ext cx="219456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2026 | AIT Global - Confidential &amp; Proprietary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28600" y="7315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Intelligence Suite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228600" y="749808"/>
            <a:ext cx="117500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8046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powerful modules to compare, plan, and optimise cloud spend before you commit.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1188720"/>
            <a:ext cx="5577840" cy="4937760"/>
          </a:xfrm>
          <a:prstGeom prst="roundRect">
            <a:avLst>
              <a:gd name="adj" fmla="val 1852"/>
            </a:avLst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3716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Cost Comparison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8912" y="1938528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188366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pricing APIs from AWS, Azure &amp; GCP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" y="2761488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70662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multi-cloud service comparison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" y="3584448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52958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vs cloud total cost modelling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" y="4407408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35254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recommendations with exact percentages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8912" y="5230368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517550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PDF/CSV cost comparison report exports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1188720"/>
            <a:ext cx="5596128" cy="4937760"/>
          </a:xfrm>
          <a:prstGeom prst="roundRect">
            <a:avLst>
              <a:gd name="adj" fmla="val 1852"/>
            </a:avLst>
          </a:prstGeom>
          <a:solidFill>
            <a:srgbClr val="ECFEFF"/>
          </a:solidFill>
          <a:ln w="10160">
            <a:solidFill>
              <a:srgbClr val="A5F3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3716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☸️  K8s Costing Explorer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28232" y="1938528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39128" y="188366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CPU, memory, replicas &amp; storage per workload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28232" y="2761488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39128" y="270662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Kubernetes architecture diagrams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28232" y="3584448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39128" y="352958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Per-cloud cost breakdown for EKS, GKE &amp; AKS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28232" y="4407408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39128" y="435254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download for complete K8s cluster setup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28232" y="5230368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39128" y="517550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cluster cost comparison across providers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1247120" y="7315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2575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47120" y="73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7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63072" y="5943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 GLOBAL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 rot="-2700000">
            <a:off x="10607040" y="5394960"/>
            <a:ext cx="3657600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2700000">
            <a:off x="11018520" y="5806440"/>
            <a:ext cx="2926080" cy="411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2700000">
            <a:off x="11384280" y="6172200"/>
            <a:ext cx="219456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2026 | AIT Global - Confidential &amp; Proprietary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28600" y="7315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Deploy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228600" y="749808"/>
            <a:ext cx="117500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8046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any Git repository to live cloud infrastructure — five steps, no CI/CD setup required.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1188720"/>
            <a:ext cx="2231136" cy="3566160"/>
          </a:xfrm>
          <a:prstGeom prst="roundRect">
            <a:avLst>
              <a:gd name="adj" fmla="val 4098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3272" y="1389888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272" y="13898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28600" y="2176272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Repo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8328" y="2633472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any GitHub / GitLab URL - public or private with token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50592" y="2468880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&gt;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587752" y="1188720"/>
            <a:ext cx="2231136" cy="3566160"/>
          </a:xfrm>
          <a:prstGeom prst="roundRect">
            <a:avLst>
              <a:gd name="adj" fmla="val 4098"/>
            </a:avLst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92424" y="1389888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92424" y="13898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587752" y="2176272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697480" y="2633472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detection: Node, Python, Go, Docker, Java, Ruby and more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9744" y="2468880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&gt;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946904" y="1188720"/>
            <a:ext cx="2231136" cy="3566160"/>
          </a:xfrm>
          <a:prstGeom prst="roundRect">
            <a:avLst>
              <a:gd name="adj" fmla="val 4098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51576" y="1389888"/>
            <a:ext cx="594360" cy="5943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51576" y="13898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46904" y="2176272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56632" y="2633472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checks for secrets, CVEs and misconfigurations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168896" y="2468880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&gt;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306056" y="1188720"/>
            <a:ext cx="2231136" cy="3566160"/>
          </a:xfrm>
          <a:prstGeom prst="roundRect">
            <a:avLst>
              <a:gd name="adj" fmla="val 4098"/>
            </a:avLst>
          </a:prstGeom>
          <a:solidFill>
            <a:srgbClr val="ECFEFF"/>
          </a:solidFill>
          <a:ln w="10160">
            <a:solidFill>
              <a:srgbClr val="A5F3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10728" y="1389888"/>
            <a:ext cx="594360" cy="5943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0728" y="13898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06056" y="2176272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415784" y="2633472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Dockerfile, Helm charts, K8s manifests and CI/CD pipelines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528048" y="2468880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&gt;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9665208" y="1188720"/>
            <a:ext cx="2231136" cy="3566160"/>
          </a:xfrm>
          <a:prstGeom prst="roundRect">
            <a:avLst>
              <a:gd name="adj" fmla="val 4098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469880" y="1389888"/>
            <a:ext cx="594360" cy="5943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469880" y="13898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665208" y="2176272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774936" y="2633472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K8s, EKS, Render, Railway, Fly.io or SSH/VPS targets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28600" y="4919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DEPLOYMENT TARGETS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28600" y="5230368"/>
            <a:ext cx="2231136" cy="64008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8600" y="5230368"/>
            <a:ext cx="22311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587752" y="5230368"/>
            <a:ext cx="2231136" cy="640080"/>
          </a:xfrm>
          <a:prstGeom prst="roundRect">
            <a:avLst>
              <a:gd name="adj" fmla="val 14286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87752" y="5230368"/>
            <a:ext cx="22311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946904" y="5230368"/>
            <a:ext cx="2231136" cy="640080"/>
          </a:xfrm>
          <a:prstGeom prst="roundRect">
            <a:avLst>
              <a:gd name="adj" fmla="val 14286"/>
            </a:avLst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5230368"/>
            <a:ext cx="22311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306056" y="5230368"/>
            <a:ext cx="2231136" cy="640080"/>
          </a:xfrm>
          <a:prstGeom prst="roundRect">
            <a:avLst>
              <a:gd name="adj" fmla="val 14286"/>
            </a:avLst>
          </a:prstGeom>
          <a:solidFill>
            <a:srgbClr val="ECFEFF"/>
          </a:solidFill>
          <a:ln w="10160">
            <a:solidFill>
              <a:srgbClr val="A5F3F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06056" y="5230368"/>
            <a:ext cx="22311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Fly.io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665208" y="5230368"/>
            <a:ext cx="2231136" cy="640080"/>
          </a:xfrm>
          <a:prstGeom prst="roundRect">
            <a:avLst>
              <a:gd name="adj" fmla="val 14286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65208" y="5230368"/>
            <a:ext cx="22311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/ VPS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1247120" y="7315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2575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47120" y="73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7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63072" y="5943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 GLOBAL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 rot="-2700000">
            <a:off x="10607040" y="5394960"/>
            <a:ext cx="3657600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2700000">
            <a:off x="11018520" y="5806440"/>
            <a:ext cx="2926080" cy="411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2700000">
            <a:off x="11384280" y="6172200"/>
            <a:ext cx="219456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2026 | AIT Global - Confidential &amp; Proprietary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28600" y="7315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&amp; Monitor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228600" y="749808"/>
            <a:ext cx="117500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8046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right-sizing and real-time infrastructure health across all cloud providers.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" y="868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OPTIMIZER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188720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207008"/>
            <a:ext cx="685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128016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1655064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 to up/downgrade instances based on actual CPU and RAM utilisation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560320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578608"/>
            <a:ext cx="685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💲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265176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Impact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3026664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exact monthly saving amount before making any changes to your fleet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3931920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950208"/>
            <a:ext cx="685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97280" y="402336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Simulation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398264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CPU / RAM metrics to safely test right-sizing scenarios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5303520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5321808"/>
            <a:ext cx="685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97280" y="539496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Compare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5769864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equivalent instance types across AWS, Azure and GCP side-by-side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72200" y="868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72200" y="1188720"/>
            <a:ext cx="5596128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1207008"/>
            <a:ext cx="685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🟢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059168" y="128016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59168" y="1655064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infrastructure health with live utilisation metrics per resource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72200" y="2560320"/>
            <a:ext cx="5596128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2578608"/>
            <a:ext cx="685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059168" y="265176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59168" y="3026664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drift detection and automated compliance scanning across your stack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72200" y="3931920"/>
            <a:ext cx="5596128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3950208"/>
            <a:ext cx="685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059168" y="402336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Tracking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059168" y="4398264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management with severity levels, escalation paths and history log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72200" y="5303520"/>
            <a:ext cx="5596128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5321808"/>
            <a:ext cx="685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7059168" y="539496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059168" y="5769864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usage trend analysis and monthly cost forecasting dashboards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1247120" y="7315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2575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47120" y="73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7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63072" y="5943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 GLOBAL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 rot="-2700000">
            <a:off x="10607040" y="5394960"/>
            <a:ext cx="3657600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2700000">
            <a:off x="11018520" y="5806440"/>
            <a:ext cx="2926080" cy="411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2700000">
            <a:off x="11384280" y="6172200"/>
            <a:ext cx="219456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2026 | AIT Global - Confidential &amp; Proprietary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28600" y="7315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Suite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228600" y="749808"/>
            <a:ext cx="117500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8046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Orchestrate, automate, and secure your infrastructure with the built-in Oz platform.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1188720"/>
            <a:ext cx="5806440" cy="2487168"/>
          </a:xfrm>
          <a:prstGeom prst="roundRect">
            <a:avLst>
              <a:gd name="adj" fmla="val 3676"/>
            </a:avLst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353312"/>
            <a:ext cx="685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88720" y="135331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1938528"/>
            <a:ext cx="550468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intelligent agents to provision, migrate, or audit infrastructure autonomously. Monitor execution logs in real time.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273552"/>
            <a:ext cx="1755648" cy="274320"/>
          </a:xfrm>
          <a:prstGeom prst="roundRect">
            <a:avLst>
              <a:gd name="adj" fmla="val 20000"/>
            </a:avLst>
          </a:prstGeom>
          <a:solidFill>
            <a:srgbClr val="7C3AED">
              <a:alpha val="15000"/>
            </a:srgbClr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73552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Auto-provision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267712" y="3273552"/>
            <a:ext cx="1755648" cy="274320"/>
          </a:xfrm>
          <a:prstGeom prst="roundRect">
            <a:avLst>
              <a:gd name="adj" fmla="val 20000"/>
            </a:avLst>
          </a:prstGeom>
          <a:solidFill>
            <a:srgbClr val="7C3AED">
              <a:alpha val="15000"/>
            </a:srgbClr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67712" y="3273552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logs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169664" y="3273552"/>
            <a:ext cx="1755648" cy="274320"/>
          </a:xfrm>
          <a:prstGeom prst="roundRect">
            <a:avLst>
              <a:gd name="adj" fmla="val 20000"/>
            </a:avLst>
          </a:prstGeom>
          <a:solidFill>
            <a:srgbClr val="7C3AED">
              <a:alpha val="15000"/>
            </a:srgbClr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9664" y="3273552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tasks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217920" y="1188720"/>
            <a:ext cx="5806440" cy="2487168"/>
          </a:xfrm>
          <a:prstGeom prst="roundRect">
            <a:avLst>
              <a:gd name="adj" fmla="val 3676"/>
            </a:avLst>
          </a:prstGeom>
          <a:solidFill>
            <a:srgbClr val="ECFEFF"/>
          </a:solidFill>
          <a:ln w="10160">
            <a:solidFill>
              <a:srgbClr val="A5F3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353312"/>
            <a:ext cx="685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178040" y="135331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Registry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55080" y="1938528"/>
            <a:ext cx="550468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manage SSH and Docker hosts as deployment targets. Agents connect securely via stored credentials.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55080" y="3273552"/>
            <a:ext cx="1755648" cy="274320"/>
          </a:xfrm>
          <a:prstGeom prst="roundRect">
            <a:avLst>
              <a:gd name="adj" fmla="val 20000"/>
            </a:avLst>
          </a:prstGeom>
          <a:solidFill>
            <a:srgbClr val="0891B2">
              <a:alpha val="15000"/>
            </a:srgbClr>
          </a:solidFill>
          <a:ln w="762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3273552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targets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257032" y="3273552"/>
            <a:ext cx="1755648" cy="274320"/>
          </a:xfrm>
          <a:prstGeom prst="roundRect">
            <a:avLst>
              <a:gd name="adj" fmla="val 20000"/>
            </a:avLst>
          </a:prstGeom>
          <a:solidFill>
            <a:srgbClr val="0891B2">
              <a:alpha val="15000"/>
            </a:srgbClr>
          </a:solidFill>
          <a:ln w="762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57032" y="3273552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hosts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0158984" y="3273552"/>
            <a:ext cx="1755648" cy="274320"/>
          </a:xfrm>
          <a:prstGeom prst="roundRect">
            <a:avLst>
              <a:gd name="adj" fmla="val 20000"/>
            </a:avLst>
          </a:prstGeom>
          <a:solidFill>
            <a:srgbClr val="0891B2">
              <a:alpha val="15000"/>
            </a:srgbClr>
          </a:solidFill>
          <a:ln w="762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58984" y="3273552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28600" y="3822192"/>
            <a:ext cx="5806440" cy="2487168"/>
          </a:xfrm>
          <a:prstGeom prst="roundRect">
            <a:avLst>
              <a:gd name="adj" fmla="val 3676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986784"/>
            <a:ext cx="685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188720" y="398678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Vault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65760" y="4572000"/>
            <a:ext cx="550468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cloud credentials, SSH keys and API tokens encrypted at rest with AES-256. Inject securely into agent runs.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5907024"/>
            <a:ext cx="1755648" cy="274320"/>
          </a:xfrm>
          <a:prstGeom prst="roundRect">
            <a:avLst>
              <a:gd name="adj" fmla="val 20000"/>
            </a:avLst>
          </a:prstGeom>
          <a:solidFill>
            <a:srgbClr val="EA580C">
              <a:alpha val="15000"/>
            </a:srgbClr>
          </a:solidFill>
          <a:ln w="7620">
            <a:solidFill>
              <a:srgbClr val="EA580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5907024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267712" y="5907024"/>
            <a:ext cx="1755648" cy="274320"/>
          </a:xfrm>
          <a:prstGeom prst="roundRect">
            <a:avLst>
              <a:gd name="adj" fmla="val 20000"/>
            </a:avLst>
          </a:prstGeom>
          <a:solidFill>
            <a:srgbClr val="EA580C">
              <a:alpha val="15000"/>
            </a:srgbClr>
          </a:solidFill>
          <a:ln w="7620">
            <a:solidFill>
              <a:srgbClr val="EA580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67712" y="5907024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exposure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169664" y="5907024"/>
            <a:ext cx="1755648" cy="274320"/>
          </a:xfrm>
          <a:prstGeom prst="roundRect">
            <a:avLst>
              <a:gd name="adj" fmla="val 20000"/>
            </a:avLst>
          </a:prstGeom>
          <a:solidFill>
            <a:srgbClr val="EA580C">
              <a:alpha val="15000"/>
            </a:srgbClr>
          </a:solidFill>
          <a:ln w="7620">
            <a:solidFill>
              <a:srgbClr val="EA580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69664" y="5907024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access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217920" y="3822192"/>
            <a:ext cx="5806440" cy="2487168"/>
          </a:xfrm>
          <a:prstGeom prst="roundRect">
            <a:avLst>
              <a:gd name="adj" fmla="val 3676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3986784"/>
            <a:ext cx="685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7178040" y="398678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355080" y="4572000"/>
            <a:ext cx="550468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cron triggers for recurring agent jobs: nightly backups, compliance scans, cost reports, drift detection.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355080" y="5907024"/>
            <a:ext cx="1755648" cy="274320"/>
          </a:xfrm>
          <a:prstGeom prst="roundRect">
            <a:avLst>
              <a:gd name="adj" fmla="val 20000"/>
            </a:avLst>
          </a:prstGeom>
          <a:solidFill>
            <a:srgbClr val="2563EB">
              <a:alpha val="15000"/>
            </a:srgbClr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55080" y="5907024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syntax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257032" y="5907024"/>
            <a:ext cx="1755648" cy="274320"/>
          </a:xfrm>
          <a:prstGeom prst="roundRect">
            <a:avLst>
              <a:gd name="adj" fmla="val 20000"/>
            </a:avLst>
          </a:prstGeom>
          <a:solidFill>
            <a:srgbClr val="2563EB">
              <a:alpha val="15000"/>
            </a:srgbClr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57032" y="5907024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logic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0158984" y="5907024"/>
            <a:ext cx="1755648" cy="274320"/>
          </a:xfrm>
          <a:prstGeom prst="roundRect">
            <a:avLst>
              <a:gd name="adj" fmla="val 20000"/>
            </a:avLst>
          </a:prstGeom>
          <a:solidFill>
            <a:srgbClr val="2563EB">
              <a:alpha val="15000"/>
            </a:srgbClr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158984" y="5907024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 history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1247120" y="7315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2575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47120" y="73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7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63072" y="5943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 GLOBAL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 rot="-2700000">
            <a:off x="10607040" y="5394960"/>
            <a:ext cx="3657600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2700000">
            <a:off x="11018520" y="5806440"/>
            <a:ext cx="2926080" cy="411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2700000">
            <a:off x="11384280" y="6172200"/>
            <a:ext cx="219456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2026 | AIT Global - Confidential &amp; Proprietary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28600" y="7315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 &amp; Budget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228600" y="749808"/>
            <a:ext cx="117500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8046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 roadmap and flexible subscription tiers for every team size.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" y="8778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188720"/>
            <a:ext cx="5577840" cy="1261872"/>
          </a:xfrm>
          <a:prstGeom prst="roundRect">
            <a:avLst>
              <a:gd name="adj" fmla="val 7246"/>
            </a:avLst>
          </a:prstGeom>
          <a:solidFill>
            <a:srgbClr val="ECFEFF"/>
          </a:solidFill>
          <a:ln w="10160">
            <a:solidFill>
              <a:srgbClr val="A5F3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1298448"/>
            <a:ext cx="987552" cy="411480"/>
          </a:xfrm>
          <a:prstGeom prst="roundRect">
            <a:avLst>
              <a:gd name="adj" fmla="val 17778"/>
            </a:avLst>
          </a:prstGeom>
          <a:solidFill>
            <a:srgbClr val="0EA47A"/>
          </a:solidFill>
          <a:ln w="12700">
            <a:solidFill>
              <a:srgbClr val="0EA4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298448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M1-M3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63040" y="128016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63040" y="1655064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IaC tools live, public beta, first 50 users onboarded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2578608"/>
            <a:ext cx="5577840" cy="1261872"/>
          </a:xfrm>
          <a:prstGeom prst="roundRect">
            <a:avLst>
              <a:gd name="adj" fmla="val 7246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2688336"/>
            <a:ext cx="987552" cy="411480"/>
          </a:xfrm>
          <a:prstGeom prst="roundRect">
            <a:avLst>
              <a:gd name="adj" fmla="val 1777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688336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M3-M6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63040" y="26700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63040" y="304495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tier + Stripe billing, AI optimizer GA, 100 paying customers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3968496"/>
            <a:ext cx="5577840" cy="1261872"/>
          </a:xfrm>
          <a:prstGeom prst="roundRect">
            <a:avLst>
              <a:gd name="adj" fmla="val 7246"/>
            </a:avLst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4078224"/>
            <a:ext cx="987552" cy="411480"/>
          </a:xfrm>
          <a:prstGeom prst="roundRect">
            <a:avLst>
              <a:gd name="adj" fmla="val 1777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4078224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M6-M9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463040" y="405993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63040" y="443484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tier + SSO, operations suite GA, 500 customers, marketplace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5358384"/>
            <a:ext cx="5577840" cy="1261872"/>
          </a:xfrm>
          <a:prstGeom prst="roundRect">
            <a:avLst>
              <a:gd name="adj" fmla="val 7246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5468112"/>
            <a:ext cx="987552" cy="411480"/>
          </a:xfrm>
          <a:prstGeom prst="roundRect">
            <a:avLst>
              <a:gd name="adj" fmla="val 17778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5468112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M9-M12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463040" y="5449824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463040" y="5824728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pilots, custom agent integrations, SLA commitments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72200" y="8778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72200" y="1188720"/>
            <a:ext cx="5596128" cy="1261872"/>
          </a:xfrm>
          <a:prstGeom prst="roundRect">
            <a:avLst>
              <a:gd name="adj" fmla="val 7246"/>
            </a:avLst>
          </a:prstGeom>
          <a:solidFill>
            <a:srgbClr val="ECFEFF"/>
          </a:solidFill>
          <a:ln w="10160">
            <a:solidFill>
              <a:srgbClr val="A5F3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27648" y="126187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686800" y="126187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EA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27648" y="1682496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IaC tools · Basic cost compare · Community support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72200" y="2578608"/>
            <a:ext cx="5596128" cy="1261872"/>
          </a:xfrm>
          <a:prstGeom prst="roundRect">
            <a:avLst>
              <a:gd name="adj" fmla="val 7246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27648" y="26517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686800" y="265176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$29/mo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27648" y="3072384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pricing APIs · AI optimisation · Priority support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72200" y="3968496"/>
            <a:ext cx="5596128" cy="1261872"/>
          </a:xfrm>
          <a:prstGeom prst="roundRect">
            <a:avLst>
              <a:gd name="adj" fmla="val 7246"/>
            </a:avLst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27648" y="404164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686800" y="404164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$99/mo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27648" y="4462272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· Team audit logs · Shared secrets vault · SLA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72200" y="5358384"/>
            <a:ext cx="5596128" cy="1261872"/>
          </a:xfrm>
          <a:prstGeom prst="roundRect">
            <a:avLst>
              <a:gd name="adj" fmla="val 7246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27648" y="543153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686800" y="543153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27648" y="58521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agents · Dedicated infra · White-label options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2700000">
            <a:off x="10607040" y="5394960"/>
            <a:ext cx="3657600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2700000">
            <a:off x="11018520" y="5806440"/>
            <a:ext cx="2926080" cy="411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2700000">
            <a:off x="11384280" y="6172200"/>
            <a:ext cx="219456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201168"/>
            <a:ext cx="4480560" cy="594360"/>
          </a:xfrm>
          <a:prstGeom prst="roundRect">
            <a:avLst>
              <a:gd name="adj" fmla="val 923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01168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8600" y="1353312"/>
            <a:ext cx="5029200" cy="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4813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Nyati Enthral, Office no 1105, Mundhwa-Kharadi Bypass,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8600" y="18013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Kharadi, Pune, Maharashtra 411014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8600" y="2331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28600" y="2679192"/>
            <a:ext cx="5029200" cy="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8072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www.aitglobalindia.com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8600" y="3657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28600" y="4005072"/>
            <a:ext cx="5029200" cy="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41330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infrastudio.aitglobalindia.com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28600" y="4983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28600" y="5330952"/>
            <a:ext cx="5029200" cy="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54589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github.com/ait-global/infrastudio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 rot="2700000">
            <a:off x="6903720" y="685800"/>
            <a:ext cx="3246120" cy="3246120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7315200" y="1115568"/>
            <a:ext cx="2423160" cy="2423160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6EAE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700000">
            <a:off x="8394192" y="246888"/>
            <a:ext cx="182880" cy="502920"/>
          </a:xfrm>
          <a:prstGeom prst="rect">
            <a:avLst/>
          </a:prstGeom>
          <a:solidFill>
            <a:srgbClr val="2575C4"/>
          </a:solidFill>
          <a:ln w="12700">
            <a:solidFill>
              <a:srgbClr val="2575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700000">
            <a:off x="6327648" y="2039112"/>
            <a:ext cx="182880" cy="502920"/>
          </a:xfrm>
          <a:prstGeom prst="rect">
            <a:avLst/>
          </a:prstGeom>
          <a:solidFill>
            <a:srgbClr val="2575C4"/>
          </a:solidFill>
          <a:ln w="12700">
            <a:solidFill>
              <a:srgbClr val="2575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700000">
            <a:off x="8394192" y="3813048"/>
            <a:ext cx="182880" cy="502920"/>
          </a:xfrm>
          <a:prstGeom prst="rect">
            <a:avLst/>
          </a:prstGeom>
          <a:solidFill>
            <a:srgbClr val="2575C4"/>
          </a:solidFill>
          <a:ln w="12700">
            <a:solidFill>
              <a:srgbClr val="2575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2700000">
            <a:off x="10469880" y="2039112"/>
            <a:ext cx="182880" cy="502920"/>
          </a:xfrm>
          <a:prstGeom prst="rect">
            <a:avLst/>
          </a:prstGeom>
          <a:solidFill>
            <a:srgbClr val="2575C4"/>
          </a:solidFill>
          <a:ln w="12700">
            <a:solidFill>
              <a:srgbClr val="2575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14032" y="1536192"/>
            <a:ext cx="276148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55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5400" dirty="0"/>
          </a:p>
        </p:txBody>
      </p:sp>
      <p:sp>
        <p:nvSpPr>
          <p:cNvPr id="27" name="Text 25"/>
          <p:cNvSpPr/>
          <p:nvPr/>
        </p:nvSpPr>
        <p:spPr>
          <a:xfrm>
            <a:off x="6812280" y="3730752"/>
            <a:ext cx="3364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 GLOBAL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35040" y="4663440"/>
            <a:ext cx="5943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29" name="Text 27"/>
          <p:cNvSpPr/>
          <p:nvPr/>
        </p:nvSpPr>
        <p:spPr>
          <a:xfrm>
            <a:off x="6035040" y="583387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www.aitglobalindia.com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286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2026 | AIT Global - Confidential &amp; Proprietary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2026-07-02T14:21:49Z</dcterms:created>
  <dcterms:modified xsi:type="dcterms:W3CDTF">2026-07-02T14:21:49Z</dcterms:modified>
</cp:coreProperties>
</file>