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4572000" cy="4572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828800"/>
            <a:ext cx="3657600" cy="3657600"/>
          </a:xfrm>
          <a:prstGeom prst="ellipse">
            <a:avLst/>
          </a:prstGeom>
          <a:solidFill>
            <a:srgbClr val="22D3EE">
              <a:alpha val="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417320" cy="1417320"/>
          </a:xfrm>
          <a:prstGeom prst="roundRect">
            <a:avLst>
              <a:gd name="adj" fmla="val 14194"/>
            </a:avLst>
          </a:prstGeom>
          <a:solidFill>
            <a:srgbClr val="0F1629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77800" dist="50800" dir="16200000">
              <a:srgbClr val="6366F1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 Compare. Deploy.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371600"/>
            <a:ext cx="0" cy="4206240"/>
          </a:xfrm>
          <a:prstGeom prst="line">
            <a:avLst/>
          </a:prstGeom>
          <a:noFill/>
          <a:ln w="10160">
            <a:solidFill>
              <a:srgbClr val="1E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97280"/>
            <a:ext cx="9326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2514600" y="3429000"/>
            <a:ext cx="5486400" cy="54864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compare, and deploy cloud infrastructure from one unified platform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14600" y="4315968"/>
            <a:ext cx="5486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44348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Darekar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AIT Global Inc     </a:t>
            </a:r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 Funde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AIT Global Inc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48006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Kadam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AIT Global Inc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516636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26364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16200000">
              <a:srgbClr val="6366F1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6263640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16200000">
              <a:srgbClr val="A855F7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6263640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50800" dir="16200000">
              <a:srgbClr val="22D3EE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65960" y="6263640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16200000">
              <a:srgbClr val="38BDF8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626364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16200000">
              <a:srgbClr val="22C55E">
                <a:alpha val="7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 across three phases — Overview, Features, and Operations.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8500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16152" y="1993392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29584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712464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6152" y="3529584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5065776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5248656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16152" y="5065776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 &amp; ROI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141732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A855F7">
              <a:alpha val="85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1993392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176272"/>
            <a:ext cx="438912" cy="43891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48072" y="1993392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3529584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712464"/>
            <a:ext cx="438912" cy="43891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48072" y="3529584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5065776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5248656"/>
            <a:ext cx="438912" cy="43891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48072" y="5065776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141732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6366F1">
              <a:alpha val="85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75320" y="1993392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2176272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79992" y="1993392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75320" y="3529584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37124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79992" y="3529584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Analytics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75320" y="5065776"/>
            <a:ext cx="3749040" cy="1389888"/>
          </a:xfrm>
          <a:prstGeom prst="roundRect">
            <a:avLst>
              <a:gd name="adj" fmla="val 7895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524865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079992" y="5065776"/>
            <a:ext cx="28346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97316">
              <a:alpha val="4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914400"/>
            <a:ext cx="3657600" cy="3657600"/>
          </a:xfrm>
          <a:prstGeom prst="ellipse">
            <a:avLst/>
          </a:prstGeom>
          <a:solidFill>
            <a:srgbClr val="22D3EE">
              <a:alpha val="3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 &amp; ROI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486400" cy="1481328"/>
          </a:xfrm>
          <a:prstGeom prst="roundRect">
            <a:avLst>
              <a:gd name="adj" fmla="val 7407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36192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361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1901952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tools per workflow — terminal, Docker, Grafana, CI/CD. Each switch costs 20-25 min of focus.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53512"/>
            <a:ext cx="5486400" cy="1481328"/>
          </a:xfrm>
          <a:prstGeom prst="roundRect">
            <a:avLst>
              <a:gd name="adj" fmla="val 7407"/>
            </a:avLst>
          </a:prstGeom>
          <a:solidFill>
            <a:srgbClr val="0F1629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63824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3136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IaC Authoring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3529584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Terraform from scratch takes hours and requires specialist knowledge most teams lack.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581144"/>
            <a:ext cx="5486400" cy="1481328"/>
          </a:xfrm>
          <a:prstGeom prst="roundRect">
            <a:avLst>
              <a:gd name="adj" fmla="val 7407"/>
            </a:avLst>
          </a:prstGeom>
          <a:solidFill>
            <a:srgbClr val="0F1629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791456"/>
            <a:ext cx="438912" cy="43891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791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4764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Visibility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5157216"/>
            <a:ext cx="4480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compare AWS, Azure and GCP costs before provisioning resources at scale.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325880"/>
            <a:ext cx="5532120" cy="1536192"/>
          </a:xfrm>
          <a:prstGeom prst="roundRect">
            <a:avLst>
              <a:gd name="adj" fmla="val 7143"/>
            </a:avLst>
          </a:prstGeom>
          <a:ln w="1016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46304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cloud tool.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192024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 unifies IaC design, cost analysis, live deploy, monitoring, and AI automation in a single browser-based workspace.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337560"/>
            <a:ext cx="1737360" cy="2240280"/>
          </a:xfrm>
          <a:prstGeom prst="roundRect">
            <a:avLst>
              <a:gd name="adj" fmla="val 6316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5661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263640" y="4389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time freed from toil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337560"/>
            <a:ext cx="1737360" cy="2240280"/>
          </a:xfrm>
          <a:prstGeom prst="roundRect">
            <a:avLst>
              <a:gd name="adj" fmla="val 6316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5661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138160" y="4389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deployed IaC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12680" y="3337560"/>
            <a:ext cx="1737360" cy="2240280"/>
          </a:xfrm>
          <a:prstGeom prst="roundRect">
            <a:avLst>
              <a:gd name="adj" fmla="val 6316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35661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10012680" y="4389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savings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828800"/>
            <a:ext cx="5486400" cy="5486400"/>
          </a:xfrm>
          <a:prstGeom prst="ellipse">
            <a:avLst/>
          </a:prstGeom>
          <a:solidFill>
            <a:srgbClr val="6366F1">
              <a:alpha val="3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integrated modules covering every stage of the infrastructure lifecycle.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262432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HCL for AWS, Azure &amp; GCP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70632" y="1389888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43784" y="221284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43784" y="262432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multi-cloud pricing &amp; savings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9784" y="1389888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02936" y="221284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Costing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02936" y="262432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cost explorer with diagrams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88936" y="1389888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562088" y="221284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62088" y="262432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→ K8s, Render, Fly.io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848088" y="1389888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21240" y="221284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21240" y="262432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right-sizing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931920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4632" y="4754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" y="51663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drift &amp; compliance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70632" y="3931920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843784" y="4754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43784" y="51663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 &amp; cost insights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9784" y="3931920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9784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202936" y="4754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02936" y="51663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playbook builder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88936" y="3931920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8936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562088" y="4754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62088" y="51663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K8s-native cloud resources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848088" y="3931920"/>
            <a:ext cx="2231136" cy="2395728"/>
          </a:xfrm>
          <a:prstGeom prst="roundRect">
            <a:avLst>
              <a:gd name="adj" fmla="val 4918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48088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921240" y="4754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921240" y="51663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vault &amp; schedules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4572000" cy="4572000"/>
          </a:xfrm>
          <a:prstGeom prst="ellipse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HCL generation — no Terraform expertise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65836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4264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Canvas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178308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resource blocks with live connection mapping and dependency resolution.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441448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59736"/>
            <a:ext cx="65836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25146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87121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AWS, Azure &amp; GCP provider support with 50+ resource types across all services.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529584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47872"/>
            <a:ext cx="65836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98448" y="360273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Export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95935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production-ready formatted Terraform files in one click, ready to apply.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617720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636008"/>
            <a:ext cx="65836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98448" y="46908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8448" y="504748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plan preview showing resource changes before committing to infrastructure.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5705856"/>
            <a:ext cx="5623560" cy="987552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5724144"/>
            <a:ext cx="65836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98448" y="57790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Support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98448" y="613562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modules with variable injection and environment-specific configuration.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987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325880"/>
            <a:ext cx="2697480" cy="2487168"/>
          </a:xfrm>
          <a:prstGeom prst="roundRect">
            <a:avLst>
              <a:gd name="adj" fmla="val 4412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83080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263640" y="2834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16568" y="1325880"/>
            <a:ext cx="2697480" cy="2487168"/>
          </a:xfrm>
          <a:prstGeom prst="roundRect">
            <a:avLst>
              <a:gd name="adj" fmla="val 4412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6568" y="1783080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9116568" y="2834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959352"/>
            <a:ext cx="2697480" cy="2487168"/>
          </a:xfrm>
          <a:prstGeom prst="roundRect">
            <a:avLst>
              <a:gd name="adj" fmla="val 4412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41655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6263640" y="54681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16568" y="3959352"/>
            <a:ext cx="2697480" cy="2487168"/>
          </a:xfrm>
          <a:prstGeom prst="roundRect">
            <a:avLst>
              <a:gd name="adj" fmla="val 4412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16568" y="441655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9116568" y="54681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3657600"/>
            <a:ext cx="4572000" cy="45720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Suite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powerful modules to compare, plan, and optimise your cloud spend before you commit.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577840" cy="5047488"/>
          </a:xfrm>
          <a:prstGeom prst="roundRect">
            <a:avLst>
              <a:gd name="adj" fmla="val 2174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Cost Comparison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208483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299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APIs from AWS, Azure &amp; GCP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90779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529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multi-cloud service comparison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73075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vs cloud total cost modelling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455371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98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recommendations with exact percentages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537667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321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cost comparison report exports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1353312"/>
            <a:ext cx="5577840" cy="5047488"/>
          </a:xfrm>
          <a:prstGeom prst="roundRect">
            <a:avLst>
              <a:gd name="adj" fmla="val 2174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5361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K8s Costing Explorer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08483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20299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CPU, memory, replicas &amp; storage per workload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90779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8529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Kubernetes architecture diagrams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373075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Per-cloud cost breakdown for EKS, GKE &amp; AKS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455371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4498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download for complete K8s cluster setup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537667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5321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cluster cost comparison across providers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4572000" cy="4572000"/>
          </a:xfrm>
          <a:prstGeom prst="ellipse">
            <a:avLst/>
          </a:prstGeom>
          <a:solidFill>
            <a:srgbClr val="22C55E">
              <a:alpha val="4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Git repository to live cloud infrastructure — five steps, no CI/CD setup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212848" cy="3547872"/>
          </a:xfrm>
          <a:prstGeom prst="roundRect">
            <a:avLst>
              <a:gd name="adj" fmla="val 4959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554480"/>
            <a:ext cx="585216" cy="5852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2788920"/>
            <a:ext cx="19933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GitHub / GitLab URL — public or private with token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24871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52344" y="1353312"/>
            <a:ext cx="2212848" cy="3547872"/>
          </a:xfrm>
          <a:prstGeom prst="roundRect">
            <a:avLst>
              <a:gd name="adj" fmla="val 4959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7016" y="155448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52344" y="23317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62072" y="2788920"/>
            <a:ext cx="19933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detection: Node, Python, Go, Docker, Java, Ruby and more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46904" y="24871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93208" y="1353312"/>
            <a:ext cx="2212848" cy="3547872"/>
          </a:xfrm>
          <a:prstGeom prst="roundRect">
            <a:avLst>
              <a:gd name="adj" fmla="val 4959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554480"/>
            <a:ext cx="585216" cy="5852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93208" y="23317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02936" y="2788920"/>
            <a:ext cx="19933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checks for secrets, CVEs and misconfigurations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87768" y="24871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34072" y="1353312"/>
            <a:ext cx="2212848" cy="3547872"/>
          </a:xfrm>
          <a:prstGeom prst="roundRect">
            <a:avLst>
              <a:gd name="adj" fmla="val 4959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744" y="1554480"/>
            <a:ext cx="585216" cy="5852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34072" y="23317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43800" y="2788920"/>
            <a:ext cx="19933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Helm charts, K8s manifests and CI/CD pipelines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28632" y="24871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774936" y="1353312"/>
            <a:ext cx="2212848" cy="3547872"/>
          </a:xfrm>
          <a:prstGeom prst="roundRect">
            <a:avLst>
              <a:gd name="adj" fmla="val 4959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79608" y="1554480"/>
            <a:ext cx="585216" cy="5852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9608" y="1554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74936" y="23317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84664" y="2788920"/>
            <a:ext cx="19933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K8s, EKS, Render, Railway, Fly.io or SSH/VPS targets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50474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5376672"/>
            <a:ext cx="2212848" cy="621792"/>
          </a:xfrm>
          <a:prstGeom prst="roundRect">
            <a:avLst>
              <a:gd name="adj" fmla="val 17647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52344" y="5376672"/>
            <a:ext cx="2212848" cy="621792"/>
          </a:xfrm>
          <a:prstGeom prst="roundRect">
            <a:avLst>
              <a:gd name="adj" fmla="val 17647"/>
            </a:avLst>
          </a:prstGeom>
          <a:solidFill>
            <a:srgbClr val="0F1629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52344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93208" y="5376672"/>
            <a:ext cx="2212848" cy="621792"/>
          </a:xfrm>
          <a:prstGeom prst="roundRect">
            <a:avLst>
              <a:gd name="adj" fmla="val 17647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34072" y="5376672"/>
            <a:ext cx="2212848" cy="621792"/>
          </a:xfrm>
          <a:prstGeom prst="roundRect">
            <a:avLst>
              <a:gd name="adj" fmla="val 17647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4072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774936" y="5376672"/>
            <a:ext cx="2212848" cy="621792"/>
          </a:xfrm>
          <a:prstGeom prst="roundRect">
            <a:avLst>
              <a:gd name="adj" fmla="val 17647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74936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VPS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F97316">
              <a:alpha val="4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0"/>
            <a:ext cx="3657600" cy="36576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Monitor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right-sizing and real-time infrastructure health across all cloud providers.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557784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98448" y="144475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0136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to up/downgrade instances based on actual CPU and RAM utilisation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06624"/>
            <a:ext cx="557784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98448" y="2798064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31546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exact monthly saving amount before making any changes to your fleet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59936"/>
            <a:ext cx="557784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78224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98448" y="4151376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Sim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450799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CPU / RAM metrics to safely test right-sizing scenarios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5413248"/>
            <a:ext cx="557784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431536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98448" y="55046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Compare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586130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equivalent instance types across AWS, Azure and GCP side-by-side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353312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371600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0608" y="144475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180136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infrastructure health with live utilisation metrics per resource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2706624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724912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50608" y="2798064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31546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drift detection and automated compliance scanning across your stack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4059936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078224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50608" y="4151376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Tracking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50608" y="450799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with severity levels, escalation paths and history log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5413248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0F1629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431536"/>
            <a:ext cx="685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50608" y="55046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50608" y="586130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trend analysis and monthly cost forecasting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743200"/>
            <a:ext cx="5486400" cy="54864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Orchestrate, automate, and secure your infrastructure with the built-in Oz platform.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5742432" cy="2450592"/>
          </a:xfrm>
          <a:prstGeom prst="roundRect">
            <a:avLst>
              <a:gd name="adj" fmla="val 4478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179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5179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5440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intelligent agents to provision, migrate, or audit infrastructure autonomously. Monitor execution logs in real 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490472" cy="274320"/>
          </a:xfrm>
          <a:prstGeom prst="roundRect">
            <a:avLst>
              <a:gd name="adj" fmla="val 20000"/>
            </a:avLst>
          </a:prstGeom>
          <a:solidFill>
            <a:srgbClr val="A855F7">
              <a:alpha val="18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19856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3419856"/>
            <a:ext cx="1056132" cy="274320"/>
          </a:xfrm>
          <a:prstGeom prst="roundRect">
            <a:avLst>
              <a:gd name="adj" fmla="val 20000"/>
            </a:avLst>
          </a:prstGeom>
          <a:solidFill>
            <a:srgbClr val="A855F7">
              <a:alpha val="18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3419856"/>
            <a:ext cx="1056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52544" y="3419856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A855F7">
              <a:alpha val="18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341985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55080" y="1353312"/>
            <a:ext cx="5742432" cy="2450592"/>
          </a:xfrm>
          <a:prstGeom prst="roundRect">
            <a:avLst>
              <a:gd name="adj" fmla="val 4478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179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60920" y="15179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5440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SSH and Docker hosts as deployment targets. Agents connect securely via stored credentials.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419856"/>
            <a:ext cx="1229868" cy="274320"/>
          </a:xfrm>
          <a:prstGeom prst="roundRect">
            <a:avLst>
              <a:gd name="adj" fmla="val 20000"/>
            </a:avLst>
          </a:prstGeom>
          <a:solidFill>
            <a:srgbClr val="22D3EE">
              <a:alpha val="18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19856"/>
            <a:ext cx="12298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targets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394192" y="3419856"/>
            <a:ext cx="1316736" cy="274320"/>
          </a:xfrm>
          <a:prstGeom prst="roundRect">
            <a:avLst>
              <a:gd name="adj" fmla="val 20000"/>
            </a:avLst>
          </a:prstGeom>
          <a:solidFill>
            <a:srgbClr val="22D3EE">
              <a:alpha val="18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341985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96144" y="3419856"/>
            <a:ext cx="1403604" cy="274320"/>
          </a:xfrm>
          <a:prstGeom prst="roundRect">
            <a:avLst>
              <a:gd name="adj" fmla="val 20000"/>
            </a:avLst>
          </a:prstGeom>
          <a:solidFill>
            <a:srgbClr val="22D3EE">
              <a:alpha val="18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6144" y="3419856"/>
            <a:ext cx="1403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3959352"/>
            <a:ext cx="5742432" cy="2450592"/>
          </a:xfrm>
          <a:prstGeom prst="roundRect">
            <a:avLst>
              <a:gd name="adj" fmla="val 4478"/>
            </a:avLst>
          </a:prstGeom>
          <a:solidFill>
            <a:srgbClr val="0F1629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2394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41732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5440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cloud credentials, SSH keys and API tokens encrypted at rest with AES-256. Inject securely into agent runs.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6025896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18000"/>
            </a:srgbClr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025896"/>
            <a:ext cx="1577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50592" y="6025896"/>
            <a:ext cx="1403604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18000"/>
            </a:srgbClr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6025896"/>
            <a:ext cx="1403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exposure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52544" y="6025896"/>
            <a:ext cx="1403604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18000"/>
            </a:srgbClr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2544" y="6025896"/>
            <a:ext cx="14036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55080" y="3959352"/>
            <a:ext cx="5742432" cy="2450592"/>
          </a:xfrm>
          <a:prstGeom prst="roundRect">
            <a:avLst>
              <a:gd name="adj" fmla="val 4478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12394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36092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4709160"/>
            <a:ext cx="5440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cron triggers for recurring agent jobs: nightly backups, compliance scans, cost reports, drift detection.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6025896"/>
            <a:ext cx="1229868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18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6025896"/>
            <a:ext cx="12298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syntax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94192" y="6025896"/>
            <a:ext cx="1229868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18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4192" y="6025896"/>
            <a:ext cx="12298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296144" y="6025896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18000"/>
            </a:srgbClr>
          </a:solidFill>
          <a:ln w="762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96144" y="602589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history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1828800"/>
            <a:ext cx="4572000" cy="4572000"/>
          </a:xfrm>
          <a:prstGeom prst="ellipse">
            <a:avLst/>
          </a:prstGeom>
          <a:solidFill>
            <a:srgbClr val="22D3EE">
              <a:alpha val="3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594360"/>
            <a:ext cx="2697480" cy="2697480"/>
          </a:xfrm>
          <a:prstGeom prst="roundRect">
            <a:avLst>
              <a:gd name="adj" fmla="val 10847"/>
            </a:avLst>
          </a:prstGeom>
          <a:solidFill>
            <a:srgbClr val="0F1629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254000" dist="50800" dir="16200000">
              <a:srgbClr val="6366F1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594360"/>
            <a:ext cx="2697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⚡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11247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8" name="Shape 6"/>
          <p:cNvSpPr/>
          <p:nvPr/>
        </p:nvSpPr>
        <p:spPr>
          <a:xfrm>
            <a:off x="3200400" y="4846320"/>
            <a:ext cx="576072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4748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 — Cloud Infrastructure Command Centre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5650992"/>
            <a:ext cx="3200400" cy="658368"/>
          </a:xfrm>
          <a:prstGeom prst="roundRect">
            <a:avLst>
              <a:gd name="adj" fmla="val 16667"/>
            </a:avLst>
          </a:prstGeom>
          <a:solidFill>
            <a:srgbClr val="0F1629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6509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infrastudio.aitglobalindia.com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53712" y="5650992"/>
            <a:ext cx="3200400" cy="658368"/>
          </a:xfrm>
          <a:prstGeom prst="roundRect">
            <a:avLst>
              <a:gd name="adj" fmla="val 16667"/>
            </a:avLst>
          </a:prstGeom>
          <a:solidFill>
            <a:srgbClr val="0F162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56509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contact@aitglobalindia.com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93024" y="5650992"/>
            <a:ext cx="3200400" cy="658368"/>
          </a:xfrm>
          <a:prstGeom prst="roundRect">
            <a:avLst>
              <a:gd name="adj" fmla="val 16667"/>
            </a:avLst>
          </a:prstGeom>
          <a:solidFill>
            <a:srgbClr val="0F1629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56509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github.com/ait-global/infrastudio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2026-07-02T14:41:40Z</dcterms:created>
  <dcterms:modified xsi:type="dcterms:W3CDTF">2026-07-02T14:41:40Z</dcterms:modified>
</cp:coreProperties>
</file>